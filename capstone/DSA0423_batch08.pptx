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87" r:id="rId4"/>
    <p:sldId id="258" r:id="rId5"/>
    <p:sldId id="314" r:id="rId6"/>
    <p:sldId id="305" r:id="rId7"/>
    <p:sldId id="30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28" autoAdjust="0"/>
  </p:normalViewPr>
  <p:slideViewPr>
    <p:cSldViewPr snapToGrid="0" snapToObjects="1" showGuides="1">
      <p:cViewPr varScale="1">
        <p:scale>
          <a:sx n="84" d="100"/>
          <a:sy n="84" d="100"/>
        </p:scale>
        <p:origin x="629" y="82"/>
      </p:cViewPr>
      <p:guideLst>
        <p:guide orient="horz" pos="21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70075"/>
            <a:ext cx="12246610" cy="888365"/>
          </a:xfrm>
        </p:spPr>
        <p:txBody>
          <a:bodyPr>
            <a:noAutofit/>
          </a:bodyPr>
          <a:lstStyle/>
          <a:p>
            <a:r>
              <a:rPr lang="en-GB" altLang="en-US" sz="2600" b="1" dirty="0">
                <a:latin typeface="Times New Roman" panose="02020603050405020304" charset="0"/>
                <a:cs typeface="Times New Roman" panose="02020603050405020304" charset="0"/>
              </a:rPr>
              <a:t>Design and Evaluation of Bayesian-Based Portfolio Optimization Models Using Financial Market Data</a:t>
            </a:r>
            <a:endParaRPr lang="en-US" altLang="en-US" sz="26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43205" y="4893691"/>
            <a:ext cx="6096000" cy="17851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Guided by </a:t>
            </a:r>
            <a:endParaRPr lang="en-IN" sz="2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Dr. Senthilvadivu</a:t>
            </a:r>
            <a:endParaRPr lang="en-IN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795770" y="4783455"/>
            <a:ext cx="5915660" cy="1452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Presented by: </a:t>
            </a:r>
            <a:endParaRPr lang="en-US" sz="2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192424325  AL NAJEEB A</a:t>
            </a:r>
            <a:b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192424376  Ashok Kumar S</a:t>
            </a:r>
            <a:b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192424342   SAI TEJESH</a:t>
            </a:r>
            <a:b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192424355  SHASHANK P</a:t>
            </a:r>
            <a:b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192424378  Naresh P</a:t>
            </a:r>
            <a:endParaRPr lang="en-US" altLang="en-IN" sz="2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73" y="276560"/>
            <a:ext cx="11300000" cy="887616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538730" y="3299427"/>
            <a:ext cx="9707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DSA0423 - </a:t>
            </a:r>
            <a:r>
              <a:rPr lang="en-US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Fundamentals of Data Science for NLP</a:t>
            </a:r>
            <a:endParaRPr lang="en-US" sz="28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6393"/>
            <a:ext cx="10972800" cy="11430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lgerian" panose="04020705040A02060702" charset="0"/>
                <a:cs typeface="Algerian" panose="04020705040A02060702" charset="0"/>
              </a:rPr>
              <a:t>INTRODUCTION</a:t>
            </a:r>
            <a:endParaRPr lang="en-US" sz="3000" dirty="0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1856" y="1834763"/>
            <a:ext cx="11582400" cy="415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Traditional financial models often struggle with "Noise" and the high level of uncertainty in global markets.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Bayesian Inference allows us to update our investment beliefs in real-time as new data (Evidence) arrives.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To build a modular web application that compares different Bayesian approaches for optimal portfolio management.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Providing investors with a "Probabilistic Map" of the market rather than just a single, risky guess.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652" y="29701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7106" y="29701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-26225"/>
            <a:ext cx="10972800" cy="11430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lgerian" panose="04020705040A02060702" charset="0"/>
                <a:cs typeface="Algerian" panose="04020705040A02060702" charset="0"/>
              </a:rPr>
              <a:t>objective</a:t>
            </a:r>
            <a:endParaRPr lang="en-US" sz="3000" dirty="0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9105" y="977265"/>
            <a:ext cx="10634345" cy="5747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Build a web-based application that uses Bayesian logic to manage financial portfolios under high market uncertainty.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Utilize Naïve Bayes to categorize the current market state (Bull, Bear, or Neutral) based on macroeconomic indicators.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Create a visual and mathematical model to understand how different sectors (e.g., Tech vs. Energy) influence each other’s risk profiles.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Apply the Bayes Optimal Classifier to minimize the "Total Risk" and find the mathematically superior weight for each investment.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Evaluate and compare all three models using financial metrics like the Sharpe Ratio to determine which handles real-world data most effectively..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812" y="29701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266" y="29701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1798" y="-6096"/>
            <a:ext cx="12705715" cy="11430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lgerian" panose="04020705040A02060702" charset="0"/>
                <a:cs typeface="Times New Roman" panose="02020603050405020304" charset="0"/>
              </a:rPr>
              <a:t>MODULES</a:t>
            </a:r>
            <a:endParaRPr lang="en-US" sz="2800" dirty="0">
              <a:latin typeface="Algerian" panose="04020705040A02060702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907" y="1593215"/>
            <a:ext cx="11645900" cy="5596890"/>
          </a:xfrm>
        </p:spPr>
        <p:txBody>
          <a:bodyPr>
            <a:noAutofit/>
          </a:bodyPr>
          <a:lstStyle/>
          <a:p>
            <a:pPr algn="l">
              <a:buFont typeface="Wingdings" panose="05000000000000000000" charset="0"/>
              <a:buChar char="Ø"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MODULE 1: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Financial Market and Real Estate Data Acquisition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None/>
            </a:pPr>
            <a:endParaRPr lang="en-US" sz="1200" dirty="0"/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MODULE 2: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Data Preprocessing, Feature Engineering, and Risk Metric Computation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None/>
            </a:pPr>
            <a:endParaRPr lang="en-US" sz="1200" dirty="0"/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MODULE 3: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Bayesian Portfolio Modeling and Asset Allocation Framework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None/>
            </a:pPr>
            <a:endParaRPr lang="en-US" sz="1200" dirty="0"/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MODULE 4: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Model Training, Backtesting, and Performance Evaluation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None/>
            </a:pPr>
            <a:endParaRPr lang="en-US" sz="1200" dirty="0"/>
          </a:p>
          <a:p>
            <a:pPr algn="l">
              <a:buFont typeface="Wingdings" panose="05000000000000000000" charset="0"/>
              <a:buChar char="Ø"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MODULE 5: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Interactive Portfolio Recommendation Dashboard and System Deployment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652" y="29701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7106" y="29701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288" y="0"/>
            <a:ext cx="10972800" cy="1143000"/>
          </a:xfrm>
        </p:spPr>
        <p:txBody>
          <a:bodyPr/>
          <a:lstStyle/>
          <a:p>
            <a:r>
              <a:rPr lang="en-US" sz="3000" dirty="0">
                <a:latin typeface="Algerian" panose="04020705040A02060702" charset="0"/>
                <a:cs typeface="Algerian" panose="04020705040A02060702" charset="0"/>
              </a:rPr>
              <a:t>FUTURE SCOPE</a:t>
            </a:r>
            <a:endParaRPr lang="en-US" sz="3000" dirty="0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12445" y="1482879"/>
            <a:ext cx="10972800" cy="424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Incorporating  to analyze financial news and social media trends as "Priors" for more responsive Bayesian updates.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Transitioning to Bayesian Neural Networks to capture complex, non-linear market patterns that traditional statistical models might overlook.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Expanding the web application to include API connectivity with global brokerages for real-time, autonomous portfolio rebalancing based on model outputs.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R="0" lvl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Alternative Asset Expansion: Scaling the system to support high-volatility markets such as Cryptocurrencies and Commodities to provide a more diversified and robust risk-management tool.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652" y="29701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7106" y="29701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95" y="-127707"/>
            <a:ext cx="10972800" cy="11430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lgerian" panose="04020705040A02060702" charset="0"/>
              </a:rPr>
              <a:t>CONCLUSION</a:t>
            </a:r>
            <a:endParaRPr lang="en-US" sz="3000" dirty="0">
              <a:latin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495" y="1733550"/>
            <a:ext cx="10972800" cy="370967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q"/>
            </a:pP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7361" y="1254761"/>
            <a:ext cx="10879494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This project successfully demonstrates that Bayesian models provide a superior framework for navigating the inherent "noise" and volatility of financial markets.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By integrating Naïve Bayes for speed, Bayesian Networks for dependency mapping, and Bayes Optimal for execution, we created a comprehensive system for intelligent decision-making.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Our modular web application proves that probabilistic modeling can significantly reduce investment risk compared to traditional, static asset allocation methods.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The transition from raw data to a comparative dashboard highlights the viability of using Bayesian inference as a "Gold Standard" for modern wealth management technology..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652" y="29701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7106" y="29701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3036</Words>
  <Application>WPS Presentation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Arial</vt:lpstr>
      <vt:lpstr>Times New Roman</vt:lpstr>
      <vt:lpstr>Algerian</vt:lpstr>
      <vt:lpstr>Wingdings</vt:lpstr>
      <vt:lpstr>Calibri</vt:lpstr>
      <vt:lpstr>Microsoft YaHei</vt:lpstr>
      <vt:lpstr>Arial Unicode MS</vt:lpstr>
      <vt:lpstr>Office Theme</vt:lpstr>
      <vt:lpstr>Design and Evaluation of Bayesian-Based Portfolio Optimization Models Using Financial Market Data</vt:lpstr>
      <vt:lpstr>INTRODUCTION</vt:lpstr>
      <vt:lpstr>objective</vt:lpstr>
      <vt:lpstr>MODULES</vt:lpstr>
      <vt:lpstr>FUTURE SCOPE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aziz</cp:lastModifiedBy>
  <cp:revision>68</cp:revision>
  <dcterms:created xsi:type="dcterms:W3CDTF">2013-01-27T09:14:00Z</dcterms:created>
  <dcterms:modified xsi:type="dcterms:W3CDTF">2026-03-07T07:37:58Z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1ED294F7ED1643F5AF2C93979D380DD0_13</vt:lpwstr>
  </property>
  <property fmtid="{D5CDD505-2E9C-101B-9397-08002B2CF9AE}" pid="3" name="KSOProductBuildVer">
    <vt:lpwstr>1033-12.2.0.23196</vt:lpwstr>
  </property>
</Properties>
</file>